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 bookmarkIdSeed="4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6" r:id="rId2"/>
    <p:sldId id="294" r:id="rId3"/>
    <p:sldId id="281" r:id="rId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7"/>
      <p:bold r:id="rId8"/>
      <p:italic r:id="rId9"/>
      <p:boldItalic r:id="rId10"/>
    </p:embeddedFont>
    <p:embeddedFont>
      <p:font typeface="Merriweather" panose="00000500000000000000" pitchFamily="2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Nunito" pitchFamily="2" charset="0"/>
      <p:regular r:id="rId19"/>
      <p:bold r:id="rId20"/>
      <p:italic r:id="rId21"/>
      <p:boldItalic r:id="rId22"/>
    </p:embeddedFont>
    <p:embeddedFont>
      <p:font typeface="Wingdings 3" panose="05040102010807070707" pitchFamily="18" charset="2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jPQChcynK0uSiMmFn/cMlX7yPp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 autoAdjust="0"/>
    <p:restoredTop sz="93404" autoAdjust="0"/>
  </p:normalViewPr>
  <p:slideViewPr>
    <p:cSldViewPr snapToGrid="0">
      <p:cViewPr varScale="1">
        <p:scale>
          <a:sx n="113" d="100"/>
          <a:sy n="113" d="100"/>
        </p:scale>
        <p:origin x="586" y="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36" Type="http://customschemas.google.com/relationships/presentationmetadata" Target="metadata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53D7C1F-15CE-BD25-3EAC-81E51C0DA5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AB70E2C-5B85-0241-0025-4B6A1D83CA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FE713-0AEB-4B43-BF36-3015909EF70B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9B1615-CC6A-8AEE-8471-C09606B796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B8F606-2025-263C-0719-07E31A24FD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14A28-0211-48F1-BD97-CC702AF78F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675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088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96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90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21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58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30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95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753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04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26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96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87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1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67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585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571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454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033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490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602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chemeClr val="bg1">
                <a:lumMod val="50000"/>
                <a:lumOff val="50000"/>
              </a:schemeClr>
            </a:gs>
            <a:gs pos="100000">
              <a:schemeClr val="tx1">
                <a:lumMod val="85000"/>
              </a:schemeClr>
            </a:gs>
          </a:gsLst>
          <a:lin ang="16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5877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E038F-0308-E1A2-A878-4D90CF99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2924"/>
            <a:ext cx="5946986" cy="3468569"/>
          </a:xfrm>
        </p:spPr>
        <p:txBody>
          <a:bodyPr>
            <a:normAutofit/>
          </a:bodyPr>
          <a:lstStyle/>
          <a:p>
            <a:r>
              <a:rPr lang="fr-FR" dirty="0"/>
              <a:t>Répartition Clients : </a:t>
            </a:r>
            <a:br>
              <a:rPr lang="fr-FR" dirty="0"/>
            </a:br>
            <a:r>
              <a:rPr lang="fr-FR" dirty="0"/>
              <a:t>Particuliers vs Sociétés</a:t>
            </a:r>
            <a:br>
              <a:rPr lang="fr-FR" cap="none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/>
              </a:rPr>
            </a:br>
            <a:br>
              <a:rPr lang="fr-FR" cap="none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/>
              </a:rPr>
            </a:br>
            <a:r>
              <a:rPr kumimoji="0" lang="fr-FR" sz="18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+mj-cs"/>
              </a:rPr>
              <a:t>Analyse de la segmentation client réalisée à partir de données e-commerce extraites via l'API PrestaShop, nettoyées sous </a:t>
            </a:r>
            <a:br>
              <a:rPr kumimoji="0" lang="fr-FR" sz="18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+mj-cs"/>
              </a:rPr>
            </a:br>
            <a:r>
              <a:rPr kumimoji="0" lang="fr-FR" sz="18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+mj-cs"/>
              </a:rPr>
              <a:t>KNIME et visualisées dans Power BI.</a:t>
            </a:r>
            <a:endParaRPr lang="fr-FR" sz="1800" b="1" dirty="0">
              <a:effectLst/>
            </a:endParaRPr>
          </a:p>
        </p:txBody>
      </p:sp>
      <p:sp>
        <p:nvSpPr>
          <p:cNvPr id="5" name="Google Shape;283;p2">
            <a:extLst>
              <a:ext uri="{FF2B5EF4-FFF2-40B4-BE49-F238E27FC236}">
                <a16:creationId xmlns:a16="http://schemas.microsoft.com/office/drawing/2014/main" id="{52448C76-45AB-D8FE-DE97-24A22AB2E511}"/>
              </a:ext>
            </a:extLst>
          </p:cNvPr>
          <p:cNvSpPr txBox="1">
            <a:spLocks/>
          </p:cNvSpPr>
          <p:nvPr/>
        </p:nvSpPr>
        <p:spPr>
          <a:xfrm>
            <a:off x="0" y="4734597"/>
            <a:ext cx="6346613" cy="4089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3111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300"/>
              <a:buFont typeface="Wingdings 3" panose="05040102010807070707" pitchFamily="18" charset="2"/>
              <a:buChar char="●"/>
              <a:defRPr sz="15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914400" lvl="1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3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371600" lvl="2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2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828800" lvl="3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286000" lvl="4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743200" lvl="5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3200400" lvl="6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657600" lvl="7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4114800" lvl="8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>
                <a:solidFill>
                  <a:schemeClr val="bg1"/>
                </a:solidFill>
              </a:rPr>
              <a:t>*Version anonymisée: les données et les conclusions ont été changées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sz="1200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42853F5-95CB-C139-E37A-7B6755BD27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DC4D8CB-DF06-E3DE-1214-DE6C036F2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520" y="5529"/>
            <a:ext cx="3332480" cy="511765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60F2E14-7FEA-806A-BFE3-88CB5E5299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sp>
        <p:nvSpPr>
          <p:cNvPr id="4" name="Google Shape;282;p2">
            <a:extLst>
              <a:ext uri="{FF2B5EF4-FFF2-40B4-BE49-F238E27FC236}">
                <a16:creationId xmlns:a16="http://schemas.microsoft.com/office/drawing/2014/main" id="{1C0DCF94-B87A-809D-DE27-B89988323A27}"/>
              </a:ext>
            </a:extLst>
          </p:cNvPr>
          <p:cNvSpPr txBox="1">
            <a:spLocks/>
          </p:cNvSpPr>
          <p:nvPr/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3429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kern="1200" cap="all">
                <a:ln w="3175" cmpd="sng">
                  <a:noFill/>
                </a:ln>
                <a:solidFill>
                  <a:schemeClr val="lt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pPr algn="ctr">
              <a:buSzPts val="2800"/>
            </a:pPr>
            <a:r>
              <a:rPr lang="fr-FR" cap="none" dirty="0">
                <a:ln w="0"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Insights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8407072A-2D02-2877-093F-810B71B633A8}"/>
              </a:ext>
            </a:extLst>
          </p:cNvPr>
          <p:cNvSpPr/>
          <p:nvPr/>
        </p:nvSpPr>
        <p:spPr>
          <a:xfrm>
            <a:off x="226643" y="883458"/>
            <a:ext cx="2419945" cy="68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E2E6E9"/>
                </a:solidFill>
                <a:latin typeface="Montserrat" panose="00000500000000000000" pitchFamily="2" charset="0"/>
                <a:ea typeface="Merriweather" pitchFamily="34" charset="-122"/>
                <a:cs typeface="Merriweather" pitchFamily="34" charset="-120"/>
              </a:rPr>
              <a:t>354</a:t>
            </a:r>
            <a:endParaRPr lang="en-US" sz="5350" dirty="0">
              <a:latin typeface="Montserrat" panose="00000500000000000000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6F27C6-A490-91E9-A211-74999DC7B6C4}"/>
              </a:ext>
            </a:extLst>
          </p:cNvPr>
          <p:cNvSpPr/>
          <p:nvPr/>
        </p:nvSpPr>
        <p:spPr>
          <a:xfrm>
            <a:off x="226643" y="1800596"/>
            <a:ext cx="2419945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ontserrat" panose="00000500000000000000" pitchFamily="2" charset="0"/>
                <a:ea typeface="Merriweather" pitchFamily="34" charset="-122"/>
                <a:cs typeface="Merriweather" pitchFamily="34" charset="-120"/>
              </a:rPr>
              <a:t>Commandes</a:t>
            </a: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totales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ED013F-8790-FC7D-54DD-3A95ABA6F591}"/>
              </a:ext>
            </a:extLst>
          </p:cNvPr>
          <p:cNvSpPr/>
          <p:nvPr/>
        </p:nvSpPr>
        <p:spPr>
          <a:xfrm>
            <a:off x="2863758" y="883458"/>
            <a:ext cx="2419945" cy="68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E2E6E9"/>
                </a:solidFill>
                <a:latin typeface="Montserrat" panose="00000500000000000000" pitchFamily="2" charset="0"/>
                <a:ea typeface="Merriweather" pitchFamily="34" charset="-122"/>
                <a:cs typeface="Merriweather" pitchFamily="34" charset="-120"/>
              </a:rPr>
              <a:t>1M€</a:t>
            </a:r>
            <a:endParaRPr lang="en-US" sz="5350" dirty="0">
              <a:latin typeface="Montserrat" panose="00000500000000000000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0DF0D2-8514-3DF9-915C-DFF11FE2BBB9}"/>
              </a:ext>
            </a:extLst>
          </p:cNvPr>
          <p:cNvSpPr/>
          <p:nvPr/>
        </p:nvSpPr>
        <p:spPr>
          <a:xfrm>
            <a:off x="2863758" y="1800596"/>
            <a:ext cx="2419945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ontserrat" panose="00000500000000000000" pitchFamily="2" charset="0"/>
                <a:ea typeface="Merriweather" pitchFamily="34" charset="-122"/>
                <a:cs typeface="Merriweather" pitchFamily="34" charset="-120"/>
              </a:rPr>
              <a:t>CA TTC cumulé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1E820E-CF84-3E8E-E2C4-004AE2D4250D}"/>
              </a:ext>
            </a:extLst>
          </p:cNvPr>
          <p:cNvSpPr/>
          <p:nvPr/>
        </p:nvSpPr>
        <p:spPr>
          <a:xfrm>
            <a:off x="2863758" y="2228388"/>
            <a:ext cx="24199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" panose="00000500000000000000" pitchFamily="2" charset="0"/>
                <a:ea typeface="Merriweather" pitchFamily="34" charset="-122"/>
                <a:cs typeface="Merriweather" pitchFamily="34" charset="-120"/>
              </a:rPr>
              <a:t>1 009 751,30 €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15B309A-A301-E9FE-B5D8-4CEE5722D388}"/>
              </a:ext>
            </a:extLst>
          </p:cNvPr>
          <p:cNvSpPr/>
          <p:nvPr/>
        </p:nvSpPr>
        <p:spPr>
          <a:xfrm>
            <a:off x="5500873" y="883458"/>
            <a:ext cx="2419945" cy="68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E2E6E9"/>
                </a:solidFill>
                <a:latin typeface="Montserrat" panose="00000500000000000000" pitchFamily="2" charset="0"/>
                <a:ea typeface="Merriweather" pitchFamily="34" charset="-122"/>
                <a:cs typeface="Merriweather" pitchFamily="34" charset="-120"/>
              </a:rPr>
              <a:t>78,5%</a:t>
            </a:r>
            <a:endParaRPr lang="en-US" sz="5350" dirty="0">
              <a:latin typeface="Montserrat" panose="00000500000000000000" pitchFamily="2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1760929-885B-9A6C-815A-5163EC226EE1}"/>
              </a:ext>
            </a:extLst>
          </p:cNvPr>
          <p:cNvSpPr/>
          <p:nvPr/>
        </p:nvSpPr>
        <p:spPr>
          <a:xfrm>
            <a:off x="5500873" y="1800596"/>
            <a:ext cx="2419945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ontserrat" panose="00000500000000000000" pitchFamily="2" charset="0"/>
                <a:ea typeface="Merriweather" pitchFamily="34" charset="-122"/>
                <a:cs typeface="Merriweather" pitchFamily="34" charset="-120"/>
              </a:rPr>
              <a:t>Clients Sociétés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773AC86-E5C6-F836-C388-649FE0E27EF2}"/>
              </a:ext>
            </a:extLst>
          </p:cNvPr>
          <p:cNvSpPr/>
          <p:nvPr/>
        </p:nvSpPr>
        <p:spPr>
          <a:xfrm>
            <a:off x="5500873" y="2228388"/>
            <a:ext cx="24199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" panose="00000500000000000000" pitchFamily="2" charset="0"/>
                <a:ea typeface="Merriweather" pitchFamily="34" charset="-122"/>
                <a:cs typeface="Merriweather" pitchFamily="34" charset="-120"/>
              </a:rPr>
              <a:t>278 sur 354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4A6101A-8DC4-BA7F-8A77-4F876B8B4441}"/>
              </a:ext>
            </a:extLst>
          </p:cNvPr>
          <p:cNvSpPr/>
          <p:nvPr/>
        </p:nvSpPr>
        <p:spPr>
          <a:xfrm>
            <a:off x="2863758" y="2984196"/>
            <a:ext cx="2419945" cy="68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E2E6E9"/>
                </a:solidFill>
                <a:latin typeface="Montserrat" panose="00000500000000000000" pitchFamily="2" charset="0"/>
                <a:ea typeface="Merriweather" pitchFamily="34" charset="-122"/>
                <a:cs typeface="Merriweather" pitchFamily="34" charset="-120"/>
              </a:rPr>
              <a:t>87,35%</a:t>
            </a:r>
            <a:endParaRPr lang="en-US" sz="5350" dirty="0">
              <a:latin typeface="Montserrat" panose="00000500000000000000" pitchFamily="2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55F4424-463E-C8B9-A539-778BE5FAC339}"/>
              </a:ext>
            </a:extLst>
          </p:cNvPr>
          <p:cNvSpPr/>
          <p:nvPr/>
        </p:nvSpPr>
        <p:spPr>
          <a:xfrm>
            <a:off x="2863758" y="3901335"/>
            <a:ext cx="2419945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ontserrat" panose="00000500000000000000" pitchFamily="2" charset="0"/>
                <a:ea typeface="Merriweather" pitchFamily="34" charset="-122"/>
                <a:cs typeface="Merriweather" pitchFamily="34" charset="-120"/>
              </a:rPr>
              <a:t>CA généré par les Sociétés</a:t>
            </a:r>
            <a:endParaRPr lang="en-US" sz="2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6348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/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Visualisation des données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D61640-BC84-6AFC-F293-A746F457FD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FF0FC6C-AFA1-49F0-80B1-325A6F478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02" y="737002"/>
            <a:ext cx="1977390" cy="19452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6843BA3-952F-016A-8E42-08AB6AEE6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276" y="737002"/>
            <a:ext cx="2004932" cy="19723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16AC1FD-ED8E-42BD-AE07-F8640D632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95" y="752263"/>
            <a:ext cx="2004483" cy="19718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28B2567-0628-10F6-547F-C2F65EFAA6BD}"/>
              </a:ext>
            </a:extLst>
          </p:cNvPr>
          <p:cNvSpPr txBox="1"/>
          <p:nvPr/>
        </p:nvSpPr>
        <p:spPr>
          <a:xfrm>
            <a:off x="298450" y="3015808"/>
            <a:ext cx="8845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dirty="0">
                <a:latin typeface="Montserrat" panose="00000500000000000000" pitchFamily="2" charset="0"/>
              </a:rPr>
              <a:t>Les sociétés génèrent </a:t>
            </a:r>
            <a:r>
              <a:rPr lang="fr-FR" sz="1400" b="1" dirty="0">
                <a:latin typeface="Montserrat" panose="00000500000000000000" pitchFamily="2" charset="0"/>
              </a:rPr>
              <a:t>près de 7× plus de CA</a:t>
            </a:r>
            <a:r>
              <a:rPr lang="fr-FR" sz="1400" dirty="0">
                <a:latin typeface="Montserrat" panose="00000500000000000000" pitchFamily="2" charset="0"/>
              </a:rPr>
              <a:t> que les particuliers, confirmant leur poids économique dominant.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4BAD438-0FD6-4CB0-88E4-C1EDBEC56DD0}"/>
              </a:ext>
            </a:extLst>
          </p:cNvPr>
          <p:cNvSpPr txBox="1"/>
          <p:nvPr/>
        </p:nvSpPr>
        <p:spPr>
          <a:xfrm>
            <a:off x="298450" y="3644962"/>
            <a:ext cx="8845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Priorité B2B</a:t>
            </a:r>
          </a:p>
          <a:p>
            <a:pPr>
              <a:buNone/>
            </a:pPr>
            <a:r>
              <a:rPr lang="fr-FR" sz="1200" dirty="0">
                <a:latin typeface="Montserrat" panose="00000500000000000000" pitchFamily="2" charset="0"/>
              </a:rPr>
              <a:t>Orienter le marketing et le commercial vers les professionnels : fidélisation, offres B2B, conditions tarifaires dédiées.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5B9EABF-0F52-433E-3983-EF9AA7E3A36A}"/>
              </a:ext>
            </a:extLst>
          </p:cNvPr>
          <p:cNvSpPr txBox="1"/>
          <p:nvPr/>
        </p:nvSpPr>
        <p:spPr>
          <a:xfrm>
            <a:off x="298450" y="4381891"/>
            <a:ext cx="8701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Développement B2C</a:t>
            </a:r>
          </a:p>
          <a:p>
            <a:pPr>
              <a:buNone/>
            </a:pPr>
            <a:r>
              <a:rPr lang="fr-FR" sz="1200" dirty="0">
                <a:latin typeface="Montserrat" panose="00000500000000000000" pitchFamily="2" charset="0"/>
              </a:rPr>
              <a:t>Le segment particulier reste développable via des offres ciblées ou des campagnes adaptées, s'il est jugé stratégique.</a:t>
            </a:r>
          </a:p>
        </p:txBody>
      </p:sp>
    </p:spTree>
    <p:extLst>
      <p:ext uri="{BB962C8B-B14F-4D97-AF65-F5344CB8AC3E}">
        <p14:creationId xmlns:p14="http://schemas.microsoft.com/office/powerpoint/2010/main" val="118738332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1210</TotalTime>
  <Words>142</Words>
  <Application>Microsoft Office PowerPoint</Application>
  <PresentationFormat>Affichage à l'écran (16:9)</PresentationFormat>
  <Paragraphs>22</Paragraphs>
  <Slides>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2" baseType="lpstr">
      <vt:lpstr>Century Gothic</vt:lpstr>
      <vt:lpstr>Montserrat</vt:lpstr>
      <vt:lpstr>Wingdings 3</vt:lpstr>
      <vt:lpstr>Nunito</vt:lpstr>
      <vt:lpstr>Arial</vt:lpstr>
      <vt:lpstr>Merriweather</vt:lpstr>
      <vt:lpstr>Wingdings</vt:lpstr>
      <vt:lpstr>Calibri</vt:lpstr>
      <vt:lpstr>Secteur</vt:lpstr>
      <vt:lpstr>Répartition Clients :  Particuliers vs Sociétés  Analyse de la segmentation client réalisée à partir de données e-commerce extraites via l'API PrestaShop, nettoyées sous  KNIME et visualisées dans Power BI.</vt:lpstr>
      <vt:lpstr>Présentation PowerPoint</vt:lpstr>
      <vt:lpstr>Visualisation des données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JeYjEy</dc:creator>
  <cp:lastModifiedBy>julien liodenot</cp:lastModifiedBy>
  <cp:revision>81</cp:revision>
  <dcterms:modified xsi:type="dcterms:W3CDTF">2026-02-23T15:58:45Z</dcterms:modified>
</cp:coreProperties>
</file>